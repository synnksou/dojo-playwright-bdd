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Syne"/>
      <p:regular r:id="rId25"/>
      <p:bold r:id="rId26"/>
    </p:embeddedFont>
    <p:embeddedFont>
      <p:font typeface="Source Sans Pro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Syne-regular.fntdata"/><Relationship Id="rId26" Type="http://schemas.openxmlformats.org/officeDocument/2006/relationships/font" Target="fonts/Syne-bold.fntdata"/><Relationship Id="rId27" Type="http://schemas.openxmlformats.org/officeDocument/2006/relationships/font" Target="fonts/SourceSansPro-regular.fntdata"/><Relationship Id="rId28" Type="http://schemas.openxmlformats.org/officeDocument/2006/relationships/font" Target="fonts/SourceSansPro-bold.fntdata"/><Relationship Id="rId29" Type="http://schemas.openxmlformats.org/officeDocument/2006/relationships/font" Target="fonts/SourceSansPro-italic.fntdata"/><Relationship Id="rId30" Type="http://schemas.openxmlformats.org/officeDocument/2006/relationships/font" Target="fonts/SourceSansPr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🥒 Le Gherkin, keske c’est ?
📝 Gherkin est un langage de spécification simple, lisible par tous.
🤝 Il sert de pont entre les équipes techniques et métiers, pour définir clairement les comportements attendus d'une fonctionnalité.
📄 Les scénarios sont structurés avec des mots-clés comme : Given (état initial), When (action effectuée), Then (résultat attendu).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4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2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gif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0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gif"/><Relationship Id="rId6" Type="http://schemas.openxmlformats.org/officeDocument/2006/relationships/image" Target="../media/image-12-6.gif"/><Relationship Id="rId7" Type="http://schemas.openxmlformats.org/officeDocument/2006/relationships/image" Target="../media/image-12-7.gif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0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synnksou/dojo-playwright-bdd" TargetMode="External"/><Relationship Id="rId9" Type="http://schemas.openxmlformats.org/officeDocument/2006/relationships/hyperlink" Target="https://pitch.com?utm_medium=product-presentation&amp;utm_source=powerpoint-export&amp;utm_campaign=bottom_bar_cta&amp;utm_content=a4f2cf4e-5e3b-492b-8ec2-f37f1875aa2b&amp;utm_term=PDF-PPTX-lastslide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6" Type="http://schemas.openxmlformats.org/officeDocument/2006/relationships/image" Target="../media/image-17-5.png"/><Relationship Id="rId7" Type="http://schemas.openxmlformats.org/officeDocument/2006/relationships/image" Target="../media/image-17-6.png"/><Relationship Id="rId8" Type="http://schemas.openxmlformats.org/officeDocument/2006/relationships/image" Target="../media/image-17-7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/?utm_medium=product-presentation&amp;utm_source=powerpoint-export&amp;utm_campaign=last_slide&amp;utm_content=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bd19ecd0-16c4-4fe2-aac3-1b37cb0e2dd6?pitch-bytes=998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23875" y="3476625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523875" y="-1430843"/>
            <a:ext cx="3128033" cy="312803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8275" y="190500"/>
            <a:ext cx="2264999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6" name="Text 1"/>
          <p:cNvSpPr/>
          <p:nvPr/>
        </p:nvSpPr>
        <p:spPr>
          <a:xfrm>
            <a:off x="6265069" y="190500"/>
            <a:ext cx="2593181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13 Juin 2025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762041" y="1928411"/>
            <a:ext cx="7596106" cy="1885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4950"/>
              </a:lnSpc>
            </a:pPr>
            <a:r>
              <a:rPr lang="en-US" sz="4500" b="1" spc="-9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Découvrez Playwright avec le Gherkin </a:t>
            </a:r>
            <a:br/>
            <a:r>
              <a:rPr lang="en-US" sz="4500" b="1" spc="-9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4500" dirty="0"/>
          </a:p>
        </p:txBody>
      </p:sp>
      <p:pic>
        <p:nvPicPr>
          <p:cNvPr id="8" name="Image 2" descr="https://pitch-assets-ccb95893-de3f-4266-973c-20049231b248.s3.eu-west-1.amazonaws.com/2bf49865-d353-47d3-9e24-ce192e62465a?pitch-bytes=432&amp;pitch-content-type=image%2Fsvg%2Bxm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170" r="3126" t="17090" b="16048"/>
          <a:stretch/>
        </p:blipFill>
        <p:spPr>
          <a:xfrm rot="20700000">
            <a:off x="5136741" y="3876841"/>
            <a:ext cx="3445080" cy="2626390"/>
          </a:xfrm>
          <a:prstGeom prst="rect">
            <a:avLst/>
          </a:prstGeom>
        </p:spPr>
      </p:pic>
      <p:pic>
        <p:nvPicPr>
          <p:cNvPr id="9" name="Image 3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0346" r="11938" t="10346" b="23080"/>
          <a:stretch/>
        </p:blipFill>
        <p:spPr>
          <a:xfrm>
            <a:off x="5381643" y="-767576"/>
            <a:ext cx="2976151" cy="2549471"/>
          </a:xfrm>
          <a:prstGeom prst="rect">
            <a:avLst/>
          </a:prstGeom>
        </p:spPr>
      </p:pic>
      <p:pic>
        <p:nvPicPr>
          <p:cNvPr id="10" name="Image 4" descr="https://pitch-assets-ccb95893-de3f-4266-973c-20049231b248.s3.eu-west-1.amazonaws.com/try-pitch-pdf-export-logo.svg">
            <a:hlinkClick r:id="rId11" tooltip=""/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841ec864-5e07-475e-926d-e40c7984e9ff?pitch-bytes=1378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545312" y="3850937"/>
            <a:ext cx="2448383" cy="2448383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-274583" y="-1326099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72264" y="354308"/>
            <a:ext cx="4000500" cy="3657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880"/>
              </a:lnSpc>
            </a:pPr>
            <a:r>
              <a:rPr lang="en-US" sz="2400" b="1" spc="-4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Sommaire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304729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7161989" y="190500"/>
            <a:ext cx="1696261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631786" y="1382359"/>
            <a:ext cx="559497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Introduction &amp; Contexte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Playwright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Gherkin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Playwrigh-bdd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Fonctionnement de Playwrigh-bdd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Coverage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Configuration</a:t>
            </a:r>
            <a:endParaRPr lang="en-US" sz="18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800" b="1" spc="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 avec Playwright-bdd</a:t>
            </a:r>
            <a:endParaRPr lang="en-US" sz="1800" dirty="0"/>
          </a:p>
        </p:txBody>
      </p:sp>
      <p:pic>
        <p:nvPicPr>
          <p:cNvPr id="9" name="Image 2" descr="https://pitch-assets-ccb95893-de3f-4266-973c-20049231b248.s3.eu-west-1.amazonaws.com/try-pitch-pdf-export-logo.svg">
            <a:hlinkClick r:id="rId7" tooltip=""/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2bf49865-d353-47d3-9e24-ce192e62465a?pitch-bytes=432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170" r="3126" t="17090" b="16048"/>
          <a:stretch/>
        </p:blipFill>
        <p:spPr>
          <a:xfrm rot="20700000">
            <a:off x="6651317" y="3876841"/>
            <a:ext cx="3445080" cy="2626390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-746614" y="3333750"/>
            <a:ext cx="2619375" cy="2619375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277b9336-0086-45ee-ba0d-313152dc1644?pitch-bytes=1096&amp;pitch-content-type=image%2Fsvg%2Bxm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6765541" y="-1529195"/>
            <a:ext cx="3606222" cy="3606222"/>
          </a:xfrm>
          <a:prstGeom prst="rect">
            <a:avLst/>
          </a:prstGeom>
        </p:spPr>
      </p:pic>
      <p:pic>
        <p:nvPicPr>
          <p:cNvPr id="6" name="Image 3" descr="https://pitch-assets-ccb95893-de3f-4266-973c-20049231b248.s3.eu-west-1.amazonaws.com/2d5180a3-2e23-48ea-aede-f332d2df89c5?pitch-bytes=795&amp;pitch-content-type=image%2Fsvg%2Bxml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0" b="0"/>
          <a:stretch/>
        </p:blipFill>
        <p:spPr>
          <a:xfrm>
            <a:off x="996686" y="-751702"/>
            <a:ext cx="2619375" cy="2619375"/>
          </a:xfrm>
          <a:prstGeom prst="rect">
            <a:avLst/>
          </a:prstGeom>
        </p:spPr>
      </p:pic>
      <p:pic>
        <p:nvPicPr>
          <p:cNvPr id="7" name="Image 4" descr="https://pitch-assets-ccb95893-de3f-4266-973c-20049231b248.s3.eu-west-1.amazonaws.com/6138ffd0-44f9-46a1-8c04-be20bd4301ae?pitch-bytes=96395&amp;pitch-content-type=image%2Fjpeg">    </p:cNvPr>
          <p:cNvPicPr>
            <a:picLocks noChangeAspect="1"/>
          </p:cNvPicPr>
          <p:nvPr/>
        </p:nvPicPr>
        <p:blipFill>
          <a:blip r:embed="rId9"/>
          <a:srcRect l="0" r="0" t="2840" b="1477"/>
          <a:stretch/>
        </p:blipFill>
        <p:spPr>
          <a:xfrm>
            <a:off x="473400" y="1050521"/>
            <a:ext cx="2141680" cy="2049211"/>
          </a:xfrm>
          <a:prstGeom prst="roundRect">
            <a:avLst>
              <a:gd name="adj" fmla="val 9000"/>
            </a:avLst>
          </a:prstGeom>
        </p:spPr>
      </p:pic>
      <p:sp>
        <p:nvSpPr>
          <p:cNvPr id="8" name="Text 0"/>
          <p:cNvSpPr/>
          <p:nvPr/>
        </p:nvSpPr>
        <p:spPr>
          <a:xfrm>
            <a:off x="3000211" y="666750"/>
            <a:ext cx="4000418" cy="34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2250" dirty="0"/>
          </a:p>
        </p:txBody>
      </p:sp>
      <p:sp>
        <p:nvSpPr>
          <p:cNvPr id="9" name="Text 1"/>
          <p:cNvSpPr/>
          <p:nvPr/>
        </p:nvSpPr>
        <p:spPr>
          <a:xfrm>
            <a:off x="308275" y="190500"/>
            <a:ext cx="4263678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sp>
        <p:nvSpPr>
          <p:cNvPr id="10" name="Text 2"/>
          <p:cNvSpPr/>
          <p:nvPr/>
        </p:nvSpPr>
        <p:spPr>
          <a:xfrm>
            <a:off x="6259749" y="190500"/>
            <a:ext cx="2598501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11" name="Text 3"/>
          <p:cNvSpPr/>
          <p:nvPr/>
        </p:nvSpPr>
        <p:spPr>
          <a:xfrm>
            <a:off x="2996849" y="2574027"/>
            <a:ext cx="233362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antoine.heinrich@axa.fr</a:t>
            </a:r>
            <a:endParaRPr lang="en-US" sz="1050" dirty="0"/>
          </a:p>
        </p:txBody>
      </p:sp>
      <p:sp>
        <p:nvSpPr>
          <p:cNvPr id="12" name="Text 4"/>
          <p:cNvSpPr/>
          <p:nvPr/>
        </p:nvSpPr>
        <p:spPr>
          <a:xfrm>
            <a:off x="3003134" y="2342922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3001798" y="1426179"/>
            <a:ext cx="233354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Love Front &amp; Beer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3004838" y="1200195"/>
            <a:ext cx="3106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Software Engineer chez AXA France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3001798" y="1690934"/>
            <a:ext cx="233354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React / Next / Playwright</a:t>
            </a:r>
            <a:endParaRPr lang="en-US" sz="1050" dirty="0"/>
          </a:p>
        </p:txBody>
      </p:sp>
      <p:pic>
        <p:nvPicPr>
          <p:cNvPr id="16" name="Image 5" descr="https://pitch-assets-ccb95893-de3f-4266-973c-20049231b248.s3.eu-west-1.amazonaws.com/8e6624af-1de9-4c3b-997e-25332197cfbd?pitch-bytes=174740&amp;pitch-content-type=image%2F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000007" y="3332330"/>
            <a:ext cx="1298813" cy="1298813"/>
          </a:xfrm>
          <a:prstGeom prst="rect">
            <a:avLst/>
          </a:prstGeom>
        </p:spPr>
      </p:pic>
      <p:pic>
        <p:nvPicPr>
          <p:cNvPr id="17" name="Image 6" descr="https://pitch-assets-ccb95893-de3f-4266-973c-20049231b248.s3.eu-west-1.amazonaws.com/9b539a01-3553-4b52-b25e-4e2389ddde49?pitch-bytes=2744171&amp;pitch-content-type=image%2Fgif&amp;pitch-gifm=true">    </p:cNvPr>
          <p:cNvPicPr>
            <a:picLocks noChangeAspect="1"/>
          </p:cNvPicPr>
          <p:nvPr/>
        </p:nvPicPr>
        <p:blipFill>
          <a:blip r:embed="rId11"/>
          <a:srcRect l="0" r="0" t="0" b="4317"/>
          <a:stretch/>
        </p:blipFill>
        <p:spPr>
          <a:xfrm>
            <a:off x="6261128" y="666437"/>
            <a:ext cx="1018905" cy="974914"/>
          </a:xfrm>
          <a:prstGeom prst="roundRect">
            <a:avLst>
              <a:gd name="adj" fmla="val 9000"/>
            </a:avLst>
          </a:prstGeom>
        </p:spPr>
      </p:pic>
      <p:sp>
        <p:nvSpPr>
          <p:cNvPr id="18" name="Text 8"/>
          <p:cNvSpPr/>
          <p:nvPr/>
        </p:nvSpPr>
        <p:spPr>
          <a:xfrm>
            <a:off x="2996849" y="3020258"/>
            <a:ext cx="2333625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3003134" y="2789153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LinkedIn</a:t>
            </a:r>
            <a:endParaRPr lang="en-US" sz="1200" dirty="0"/>
          </a:p>
        </p:txBody>
      </p:sp>
      <p:pic>
        <p:nvPicPr>
          <p:cNvPr id="20" name="Image 7" descr="https://pitch-assets-ccb95893-de3f-4266-973c-20049231b248.s3.eu-west-1.amazonaws.com/try-pitch-pdf-export-logo.svg">
            <a:hlinkClick r:id="rId14" tooltip=""/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2bf49865-d353-47d3-9e24-ce192e62465a?pitch-bytes=432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170" r="3126" t="17090" b="16048"/>
          <a:stretch/>
        </p:blipFill>
        <p:spPr>
          <a:xfrm rot="20700000">
            <a:off x="6651317" y="3876841"/>
            <a:ext cx="3445080" cy="2626390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-746614" y="3333750"/>
            <a:ext cx="2619375" cy="2619375"/>
          </a:xfrm>
          <a:prstGeom prst="rect">
            <a:avLst/>
          </a:prstGeom>
        </p:spPr>
      </p:pic>
      <p:pic>
        <p:nvPicPr>
          <p:cNvPr id="5" name="Image 2" descr="https://pitch-assets-ccb95893-de3f-4266-973c-20049231b248.s3.eu-west-1.amazonaws.com/277b9336-0086-45ee-ba0d-313152dc1644?pitch-bytes=1096&amp;pitch-content-type=image%2Fsvg%2Bxm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6765541" y="-1529195"/>
            <a:ext cx="3606222" cy="3606222"/>
          </a:xfrm>
          <a:prstGeom prst="rect">
            <a:avLst/>
          </a:prstGeom>
        </p:spPr>
      </p:pic>
      <p:pic>
        <p:nvPicPr>
          <p:cNvPr id="6" name="Image 3" descr="https://pitch-assets-ccb95893-de3f-4266-973c-20049231b248.s3.eu-west-1.amazonaws.com/28540097-a503-452b-b6fa-2b75a81a27ee?pitch-bytes=101288&amp;pitch-content-type=image%2Fpng">    </p:cNvPr>
          <p:cNvPicPr>
            <a:picLocks noChangeAspect="1"/>
          </p:cNvPicPr>
          <p:nvPr/>
        </p:nvPicPr>
        <p:blipFill>
          <a:blip r:embed="rId7"/>
          <a:srcRect l="0" r="0" t="0" b="781"/>
          <a:stretch/>
        </p:blipFill>
        <p:spPr>
          <a:xfrm>
            <a:off x="186048" y="476250"/>
            <a:ext cx="1362900" cy="1362900"/>
          </a:xfrm>
          <a:prstGeom prst="rect">
            <a:avLst/>
          </a:prstGeom>
        </p:spPr>
      </p:pic>
      <p:pic>
        <p:nvPicPr>
          <p:cNvPr id="7" name="Image 4" descr="https://pitch-assets-ccb95893-de3f-4266-973c-20049231b248.s3.eu-west-1.amazonaws.com/460fe46e-329a-46f6-9fe3-76b4b8793b71?pitch-bytes=1578843&amp;pitch-content-type=image%2Fpng">    </p:cNvPr>
          <p:cNvPicPr>
            <a:picLocks noChangeAspect="1"/>
          </p:cNvPicPr>
          <p:nvPr/>
        </p:nvPicPr>
        <p:blipFill>
          <a:blip r:embed="rId8"/>
          <a:srcRect l="0" r="0" t="2321" b="25917"/>
          <a:stretch/>
        </p:blipFill>
        <p:spPr>
          <a:xfrm>
            <a:off x="6131656" y="1192263"/>
            <a:ext cx="2141680" cy="2049211"/>
          </a:xfrm>
          <a:prstGeom prst="roundRect">
            <a:avLst>
              <a:gd name="adj" fmla="val 9000"/>
            </a:avLst>
          </a:prstGeom>
        </p:spPr>
      </p:pic>
      <p:sp>
        <p:nvSpPr>
          <p:cNvPr id="8" name="Text 0"/>
          <p:cNvSpPr/>
          <p:nvPr/>
        </p:nvSpPr>
        <p:spPr>
          <a:xfrm>
            <a:off x="2164762" y="658644"/>
            <a:ext cx="40003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Croquet Mickael</a:t>
            </a:r>
            <a:endParaRPr lang="en-US" sz="2250" dirty="0"/>
          </a:p>
        </p:txBody>
      </p:sp>
      <p:sp>
        <p:nvSpPr>
          <p:cNvPr id="9" name="Text 1"/>
          <p:cNvSpPr/>
          <p:nvPr/>
        </p:nvSpPr>
        <p:spPr>
          <a:xfrm>
            <a:off x="308275" y="190500"/>
            <a:ext cx="4263678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sp>
        <p:nvSpPr>
          <p:cNvPr id="10" name="Text 2"/>
          <p:cNvSpPr/>
          <p:nvPr/>
        </p:nvSpPr>
        <p:spPr>
          <a:xfrm>
            <a:off x="6259750" y="190500"/>
            <a:ext cx="25985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11" name="Text 3"/>
          <p:cNvSpPr/>
          <p:nvPr/>
        </p:nvSpPr>
        <p:spPr>
          <a:xfrm>
            <a:off x="2161399" y="2565921"/>
            <a:ext cx="2333693" cy="21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Mickael.croquet@axa.fr</a:t>
            </a:r>
            <a:endParaRPr lang="en-US" sz="1050" dirty="0"/>
          </a:p>
        </p:txBody>
      </p:sp>
      <p:sp>
        <p:nvSpPr>
          <p:cNvPr id="12" name="Text 4"/>
          <p:cNvSpPr/>
          <p:nvPr/>
        </p:nvSpPr>
        <p:spPr>
          <a:xfrm>
            <a:off x="2167684" y="2334816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3001798" y="1426179"/>
            <a:ext cx="2333557" cy="21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2169389" y="1192089"/>
            <a:ext cx="3106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 Lead chez AXA France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2166349" y="1682828"/>
            <a:ext cx="2333557" cy="21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React </a:t>
            </a:r>
            <a:endParaRPr lang="en-US" sz="1050" dirty="0"/>
          </a:p>
        </p:txBody>
      </p:sp>
      <p:pic>
        <p:nvPicPr>
          <p:cNvPr id="16" name="Image 5" descr="https://pitch-assets-ccb95893-de3f-4266-973c-20049231b248.s3.eu-west-1.amazonaws.com/8e6624af-1de9-4c3b-997e-25332197cfbd?pitch-bytes=174740&amp;pitch-content-type=image%2F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070897" y="3616054"/>
            <a:ext cx="1298813" cy="12988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996849" y="3020258"/>
            <a:ext cx="2333693" cy="21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endParaRPr lang="en-US" sz="1050" dirty="0"/>
          </a:p>
        </p:txBody>
      </p:sp>
      <p:pic>
        <p:nvPicPr>
          <p:cNvPr id="18" name="Image 6" descr="https://pitch-assets-ccb95893-de3f-4266-973c-20049231b248.s3.eu-west-1.amazonaws.com/try-pitch-pdf-export-logo.svg">
            <a:hlinkClick r:id="rId12" tooltip=""/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841ec864-5e07-475e-926d-e40c7984e9ff?pitch-bytes=1378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3625" y="3333750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-274583" y="-1326099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23617" y="192224"/>
            <a:ext cx="4000500" cy="342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Playwright et Bdd ?</a:t>
            </a:r>
            <a:endParaRPr lang="en-US" sz="2250" dirty="0"/>
          </a:p>
        </p:txBody>
      </p:sp>
      <p:pic>
        <p:nvPicPr>
          <p:cNvPr id="6" name="Image 2" descr="https://media3.giphy.com/media/v1.Y2lkPWI0ZWIxZGIzN3Y4YnhkbnIxOWkyYWQ5bWc5NmdmYzc3OGx0cDd4NXhrcGpnMW05bSZlcD12MV9naWZzX3NlYXJjaCZjdD1n/USGC8cJwbZvM4Bz8y2/giphy.gif">    </p:cNvPr>
          <p:cNvPicPr>
            <a:picLocks noChangeAspect="1"/>
          </p:cNvPicPr>
          <p:nvPr/>
        </p:nvPicPr>
        <p:blipFill>
          <a:blip r:embed="rId5"/>
          <a:srcRect l="2560" r="2560" t="0" b="0"/>
          <a:stretch/>
        </p:blipFill>
        <p:spPr>
          <a:xfrm>
            <a:off x="2527886" y="761024"/>
            <a:ext cx="3795713" cy="40005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Text 1"/>
          <p:cNvSpPr/>
          <p:nvPr/>
        </p:nvSpPr>
        <p:spPr>
          <a:xfrm>
            <a:off x="308275" y="190500"/>
            <a:ext cx="3304729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8" name="Text 2"/>
          <p:cNvSpPr/>
          <p:nvPr/>
        </p:nvSpPr>
        <p:spPr>
          <a:xfrm>
            <a:off x="7161989" y="190500"/>
            <a:ext cx="1696261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9" name="Text 3"/>
          <p:cNvSpPr/>
          <p:nvPr/>
        </p:nvSpPr>
        <p:spPr>
          <a:xfrm>
            <a:off x="2525887" y="534209"/>
            <a:ext cx="4000252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Introduction &amp; Contexte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1351" y="4539850"/>
            <a:ext cx="4454840" cy="40236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Utilise le runner cucumber avec Playwright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Vouloir ajouter du Gherkin avec Playwright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Fastidieux à mettre en place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Compliqué à maintenir voir impossible 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Perte des avantages de Playwright</a:t>
            </a: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</p:txBody>
      </p:sp>
      <p:pic>
        <p:nvPicPr>
          <p:cNvPr id="11" name="Image 3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4337" y="477874"/>
            <a:ext cx="54091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🎭 Playwright – Ce qu’on aime</a:t>
            </a:r>
            <a:endParaRPr lang="en-US" sz="2250" dirty="0"/>
          </a:p>
        </p:txBody>
      </p:sp>
      <p:pic>
        <p:nvPicPr>
          <p:cNvPr id="4" name="Image 0" descr="https://pitch-assets-ccb95893-de3f-4266-973c-20049231b248.s3.eu-west-1.amazonaws.com/ac7731f9-443d-4f4c-809a-4527858106d5?pitch-bytes=35758&amp;pitch-content-type=image%2Fjpeg">    </p:cNvPr>
          <p:cNvPicPr>
            <a:picLocks noChangeAspect="1"/>
          </p:cNvPicPr>
          <p:nvPr/>
        </p:nvPicPr>
        <p:blipFill>
          <a:blip r:embed="rId1"/>
          <a:srcRect l="0" r="5119" t="0" b="0"/>
          <a:stretch/>
        </p:blipFill>
        <p:spPr>
          <a:xfrm>
            <a:off x="5497186" y="1325489"/>
            <a:ext cx="3170695" cy="3341761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335302" y="104016"/>
            <a:ext cx="303460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6" name="Text 2"/>
          <p:cNvSpPr/>
          <p:nvPr/>
        </p:nvSpPr>
        <p:spPr>
          <a:xfrm>
            <a:off x="6114915" y="190500"/>
            <a:ext cx="2743335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pic>
        <p:nvPicPr>
          <p:cNvPr id="7" name="Image 1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346" r="11938" t="10346" b="23080"/>
          <a:stretch/>
        </p:blipFill>
        <p:spPr>
          <a:xfrm flipH="1">
            <a:off x="-1364931" y="4109316"/>
            <a:ext cx="2976151" cy="25494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7210" y="1120985"/>
            <a:ext cx="4704680" cy="365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🔄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Auto-waiting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retry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parallélisme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🧪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Tests end-to-end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rapides et fiable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🧱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Tests unitaires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via Component Testing (CT)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🔒 Isolation totale : chaque test lance un navigateur propre</a:t>
            </a:r>
            <a:endParaRPr lang="en-US" sz="1800" dirty="0"/>
          </a:p>
          <a:p>
            <a:pPr algn="l">
              <a:lnSpc>
                <a:spcPts val="2880"/>
              </a:lnSpc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🛠️ Outils intégrés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✍️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CodeGen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: enregistrement automatique des actions utilisateur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🔍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Trace Viewer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: rejouez et analysez vos tests après coup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🧭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Playwright Inspector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: débogage visuel interactif</a:t>
            </a: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</p:txBody>
      </p:sp>
      <p:pic>
        <p:nvPicPr>
          <p:cNvPr id="9" name="Image 2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346" r="11938" t="10346" b="23080"/>
          <a:stretch/>
        </p:blipFill>
        <p:spPr>
          <a:xfrm flipH="1">
            <a:off x="7663019" y="3489872"/>
            <a:ext cx="2976151" cy="2549471"/>
          </a:xfrm>
          <a:prstGeom prst="rect">
            <a:avLst/>
          </a:prstGeom>
        </p:spPr>
      </p:pic>
      <p:pic>
        <p:nvPicPr>
          <p:cNvPr id="10" name="Image 3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4337" y="477874"/>
            <a:ext cx="6447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🎭 Playwright – Pourquoi l’utiliser ? </a:t>
            </a:r>
            <a:endParaRPr lang="en-US" sz="2250" dirty="0"/>
          </a:p>
        </p:txBody>
      </p:sp>
      <p:pic>
        <p:nvPicPr>
          <p:cNvPr id="4" name="Image 0" descr="https://pitch-assets-ccb95893-de3f-4266-973c-20049231b248.s3.eu-west-1.amazonaws.com/ac7731f9-443d-4f4c-809a-4527858106d5?pitch-bytes=35758&amp;pitch-content-type=image%2Fjpeg">    </p:cNvPr>
          <p:cNvPicPr>
            <a:picLocks noChangeAspect="1"/>
          </p:cNvPicPr>
          <p:nvPr/>
        </p:nvPicPr>
        <p:blipFill>
          <a:blip r:embed="rId1"/>
          <a:srcRect l="0" r="5119" t="0" b="0"/>
          <a:stretch/>
        </p:blipFill>
        <p:spPr>
          <a:xfrm>
            <a:off x="5737150" y="1027511"/>
            <a:ext cx="2930732" cy="3088851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335302" y="104016"/>
            <a:ext cx="3034605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6" name="Text 2"/>
          <p:cNvSpPr/>
          <p:nvPr/>
        </p:nvSpPr>
        <p:spPr>
          <a:xfrm>
            <a:off x="6114915" y="190500"/>
            <a:ext cx="2743335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pic>
        <p:nvPicPr>
          <p:cNvPr id="7" name="Image 1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346" r="11938" t="10346" b="23080"/>
          <a:stretch/>
        </p:blipFill>
        <p:spPr>
          <a:xfrm flipH="1">
            <a:off x="-1364931" y="4109316"/>
            <a:ext cx="2976151" cy="25494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5553" y="1390548"/>
            <a:ext cx="4704680" cy="329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🌐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Source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développé par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Microsoft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🔁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API unique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pour plusieurs langages </a:t>
            </a:r>
            <a:r>
              <a:rPr lang="en-US" sz="1200" b="0" i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(JS/TS, Python, C#, Java)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🧪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Multi-navigateurs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: Chromium, Firefox, WebKit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⚡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Rapide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isolé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fiable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et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facile à prendre en main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🔒 Conçu pour un testing robuste : du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E2E</a:t>
            </a:r>
            <a:r>
              <a:rPr lang="en-US" sz="12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au </a:t>
            </a:r>
            <a:r>
              <a:rPr lang="en-US" sz="1200" b="1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composant unitaire</a:t>
            </a: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</p:txBody>
      </p:sp>
      <p:pic>
        <p:nvPicPr>
          <p:cNvPr id="9" name="Image 2" descr="https://pitch-assets-ccb95893-de3f-4266-973c-20049231b248.s3.eu-west-1.amazonaws.com/try-pitch-pdf-export-logo.svg">
            <a:hlinkClick r:id="rId6" tooltip=""/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r="11938" t="10346" b="23080"/>
          <a:stretch/>
        </p:blipFill>
        <p:spPr>
          <a:xfrm flipH="1">
            <a:off x="-1143317" y="3293126"/>
            <a:ext cx="2976151" cy="254947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258512" y="-714375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9339" y="426157"/>
            <a:ext cx="5613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🥒 Le Gherkin, keske c’est ?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611467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239618" y="190500"/>
            <a:ext cx="2618632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309738" y="1243346"/>
            <a:ext cx="4912321" cy="1599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190500" indent="-190500">
              <a:lnSpc>
                <a:spcPts val="1800"/>
              </a:lnSpc>
              <a:buSzPct val="100000"/>
              <a:buChar char="☐"/>
            </a:pPr>
            <a:r>
              <a:rPr lang="en-US" sz="1200" b="0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Gherkin est un langage de spécification</a:t>
            </a:r>
            <a:endParaRPr lang="en-US" sz="1200" dirty="0"/>
          </a:p>
          <a:p>
            <a:pPr algn="l">
              <a:lnSpc>
                <a:spcPts val="1800"/>
              </a:lnSpc>
            </a:pPr>
            <a:endParaRPr lang="en-US" sz="1200" dirty="0"/>
          </a:p>
          <a:p>
            <a:pPr algn="l" marL="190500" indent="-190500">
              <a:lnSpc>
                <a:spcPts val="1800"/>
              </a:lnSpc>
              <a:buSzPct val="100000"/>
              <a:buChar char="☐"/>
            </a:pPr>
            <a:r>
              <a:rPr lang="en-US" sz="1200" b="0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Il permet aux équipes de développement et aux parties prenantes de définir des fonctionnalités</a:t>
            </a:r>
            <a:endParaRPr lang="en-US" sz="1200" dirty="0"/>
          </a:p>
          <a:p>
            <a:pPr algn="l">
              <a:lnSpc>
                <a:spcPts val="1800"/>
              </a:lnSpc>
            </a:pPr>
            <a:endParaRPr lang="en-US" sz="1200" dirty="0"/>
          </a:p>
          <a:p>
            <a:pPr algn="l" marL="190500" indent="-190500">
              <a:lnSpc>
                <a:spcPts val="1800"/>
              </a:lnSpc>
              <a:buSzPct val="100000"/>
              <a:buChar char="☐"/>
            </a:pPr>
            <a:r>
              <a:rPr lang="en-US" sz="1200" b="0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Les scénarios en gherkin se composent de mots-clés comme </a:t>
            </a:r>
            <a:r>
              <a:rPr lang="en-US" sz="1200" b="1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</a:t>
            </a:r>
            <a:r>
              <a:rPr lang="en-US" sz="1200" b="1" spc="12" kern="0" dirty="0">
                <a:solidFill>
                  <a:srgbClr val="B79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Given</a:t>
            </a:r>
            <a:r>
              <a:rPr lang="en-US" sz="1200" b="1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</a:t>
            </a:r>
            <a:r>
              <a:rPr lang="en-US" sz="1200" b="0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200" b="1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</a:t>
            </a:r>
            <a:r>
              <a:rPr lang="en-US" sz="1200" b="1" spc="12" kern="0" dirty="0">
                <a:solidFill>
                  <a:srgbClr val="47A5A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</a:t>
            </a:r>
            <a:r>
              <a:rPr lang="en-US" sz="1200" b="1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</a:t>
            </a:r>
            <a:r>
              <a:rPr lang="en-US" sz="1200" b="0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et</a:t>
            </a:r>
            <a:r>
              <a:rPr lang="en-US" sz="1200" b="1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"</a:t>
            </a:r>
            <a:r>
              <a:rPr lang="en-US" sz="1200" b="1" spc="12" kern="0" dirty="0">
                <a:solidFill>
                  <a:srgbClr val="0568F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Then</a:t>
            </a:r>
            <a:r>
              <a:rPr lang="en-US" sz="1200" b="1" spc="12" kern="0" dirty="0">
                <a:solidFill>
                  <a:srgbClr val="0E0E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</a:t>
            </a:r>
            <a:endParaRPr lang="en-US" sz="1200" dirty="0"/>
          </a:p>
        </p:txBody>
      </p:sp>
      <p:pic>
        <p:nvPicPr>
          <p:cNvPr id="9" name="Image 2" descr="https://pitch-assets-ccb95893-de3f-4266-973c-20049231b248.s3.eu-west-1.amazonaws.com/0270aa04-1005-4070-b1a5-15d39754df45?pitch-bytes=111668&amp;pitch-content-type=image%2Fpng">    </p:cNvPr>
          <p:cNvPicPr>
            <a:picLocks noChangeAspect="1"/>
          </p:cNvPicPr>
          <p:nvPr/>
        </p:nvPicPr>
        <p:blipFill>
          <a:blip r:embed="rId5"/>
          <a:srcRect l="1182" r="3824" t="0" b="0"/>
          <a:stretch/>
        </p:blipFill>
        <p:spPr>
          <a:xfrm>
            <a:off x="3952821" y="2752968"/>
            <a:ext cx="4713366" cy="1918282"/>
          </a:xfrm>
          <a:prstGeom prst="roundRect">
            <a:avLst>
              <a:gd name="adj" fmla="val 5000"/>
            </a:avLst>
          </a:prstGeom>
        </p:spPr>
      </p:pic>
      <p:pic>
        <p:nvPicPr>
          <p:cNvPr id="10" name="Image 3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r="11938" t="10346" b="23080"/>
          <a:stretch/>
        </p:blipFill>
        <p:spPr>
          <a:xfrm flipH="1">
            <a:off x="-1143317" y="3293126"/>
            <a:ext cx="2976151" cy="254947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8941" y="1588845"/>
            <a:ext cx="3905250" cy="3077168"/>
          </a:xfrm>
          <a:prstGeom prst="roundRect">
            <a:avLst>
              <a:gd name="adj" fmla="val 7424"/>
            </a:avLst>
          </a:prstGeom>
          <a:solidFill>
            <a:srgbClr val="FFFFFF"/>
          </a:solidFill>
          <a:ln/>
        </p:spPr>
      </p:sp>
      <p:pic>
        <p:nvPicPr>
          <p:cNvPr id="5" name="Image 1" descr="https://pitch-assets-ccb95893-de3f-4266-973c-20049231b248.s3.eu-west-1.amazonaws.com/ffac8913-32dc-4f3b-bae9-f11f80297841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123845" y="-714375"/>
            <a:ext cx="2619375" cy="261937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76250" y="1588845"/>
            <a:ext cx="3905250" cy="3077168"/>
          </a:xfrm>
          <a:prstGeom prst="roundRect">
            <a:avLst>
              <a:gd name="adj" fmla="val 7424"/>
            </a:avLst>
          </a:prstGeom>
          <a:solidFill>
            <a:srgbClr val="FFFFFF"/>
          </a:solidFill>
          <a:ln/>
        </p:spPr>
      </p:sp>
      <p:sp>
        <p:nvSpPr>
          <p:cNvPr id="7" name="Text 2"/>
          <p:cNvSpPr/>
          <p:nvPr/>
        </p:nvSpPr>
        <p:spPr>
          <a:xfrm>
            <a:off x="666750" y="4041915"/>
            <a:ext cx="3524250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Utilisez Gherkin pour des stratégies de test efficaces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666750" y="3929401"/>
            <a:ext cx="3524250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Cucumber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75035" y="666750"/>
            <a:ext cx="8193236" cy="34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Et si ?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308275" y="190500"/>
            <a:ext cx="3247169" cy="167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Your Company</a:t>
            </a: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6364727" y="190500"/>
            <a:ext cx="2493523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pic>
        <p:nvPicPr>
          <p:cNvPr id="12" name="Image 2" descr="https://pitch-assets-ccb95893-de3f-4266-973c-20049231b248.s3.eu-west-1.amazonaws.com/8c9e3f9d-636b-4fb9-ae78-f521f73cf53b?pitch-bytes=23240&amp;pitch-content-type=image%2Fpng">    </p:cNvPr>
          <p:cNvPicPr>
            <a:picLocks noChangeAspect="1"/>
          </p:cNvPicPr>
          <p:nvPr/>
        </p:nvPicPr>
        <p:blipFill>
          <a:blip r:embed="rId5"/>
          <a:srcRect l="3673" r="3673" t="0" b="0"/>
          <a:stretch/>
        </p:blipFill>
        <p:spPr>
          <a:xfrm>
            <a:off x="665006" y="1678220"/>
            <a:ext cx="3524250" cy="1241436"/>
          </a:xfrm>
          <a:prstGeom prst="roundRect">
            <a:avLst>
              <a:gd name="adj" fmla="val 8500"/>
            </a:avLst>
          </a:prstGeom>
        </p:spPr>
      </p:pic>
      <p:sp>
        <p:nvSpPr>
          <p:cNvPr id="13" name="Text 7"/>
          <p:cNvSpPr/>
          <p:nvPr/>
        </p:nvSpPr>
        <p:spPr>
          <a:xfrm>
            <a:off x="4954866" y="4041915"/>
            <a:ext cx="3524250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Améliorez les tests Playwright avec Gherkin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954866" y="3929401"/>
            <a:ext cx="3524250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Playwrigt</a:t>
            </a:r>
            <a:endParaRPr lang="en-US" sz="1200" dirty="0"/>
          </a:p>
        </p:txBody>
      </p:sp>
      <p:pic>
        <p:nvPicPr>
          <p:cNvPr id="15" name="Image 3" descr="https://pitch-assets-ccb95893-de3f-4266-973c-20049231b248.s3.eu-west-1.amazonaws.com/e49577dc-7869-4f8e-9f40-2aec93fbf79a?pitch-bytes=20715&amp;pitch-content-type=image%2Fpng">    </p:cNvPr>
          <p:cNvPicPr>
            <a:picLocks noChangeAspect="1"/>
          </p:cNvPicPr>
          <p:nvPr/>
        </p:nvPicPr>
        <p:blipFill>
          <a:blip r:embed="rId6"/>
          <a:srcRect l="0" r="0" t="21033" b="19281"/>
          <a:stretch/>
        </p:blipFill>
        <p:spPr>
          <a:xfrm>
            <a:off x="4953122" y="1676837"/>
            <a:ext cx="3524250" cy="2103481"/>
          </a:xfrm>
          <a:prstGeom prst="roundRect">
            <a:avLst>
              <a:gd name="adj" fmla="val 8500"/>
            </a:avLst>
          </a:prstGeom>
        </p:spPr>
      </p:pic>
      <p:pic>
        <p:nvPicPr>
          <p:cNvPr id="16" name="Image 4" descr="https://pitch-assets-ccb95893-de3f-4266-973c-20049231b248.s3.eu-west-1.amazonaws.com/try-pitch-pdf-export-logo.svg">
            <a:hlinkClick r:id="rId9" tooltip=""/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-650401" y="2857500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415563" y="-1196166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5035" y="666750"/>
            <a:ext cx="8193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 Playwright Cucumber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48734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Your Company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153420" y="190500"/>
            <a:ext cx="2704830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474280" y="1195371"/>
            <a:ext cx="352425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Ancienne possible configuration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1566302" y="561482"/>
            <a:ext cx="5116860" cy="4023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Utilise le runner cucumber avec Playwright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Vouloir ajouter du Gherkin avec Playwright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Fastidieux à mettre en place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Compliqué à maintenir voir impossible 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0" spc="-18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Perte des avantages de Playwright</a:t>
            </a: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  <a:p>
            <a:pPr algn="l">
              <a:lnSpc>
                <a:spcPts val="2880"/>
              </a:lnSpc>
            </a:pPr>
            <a:endParaRPr lang="en-US" sz="1800" dirty="0"/>
          </a:p>
        </p:txBody>
      </p:sp>
      <p:pic>
        <p:nvPicPr>
          <p:cNvPr id="10" name="Image 2" descr="https://pitch-assets-ccb95893-de3f-4266-973c-20049231b248.s3.eu-west-1.amazonaws.com/try-pitch-pdf-export-logo.svg">
            <a:hlinkClick r:id="rId7" tooltip=""/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r="11938" t="10346" b="23080"/>
          <a:stretch/>
        </p:blipFill>
        <p:spPr>
          <a:xfrm flipH="1">
            <a:off x="2333" y="-1175477"/>
            <a:ext cx="2976151" cy="254947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651795" y="4278605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9339" y="426174"/>
            <a:ext cx="4000335" cy="342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Playwright-bdd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612141" cy="168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239753" y="190500"/>
            <a:ext cx="2618497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155845" y="1543750"/>
            <a:ext cx="491222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Possibilité d'utiliser le runner Playwright avec du Gherkin (BDD)</a:t>
            </a:r>
            <a:endParaRPr lang="en-US" sz="1350" dirty="0"/>
          </a:p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+ 800 Stars et une communauté actif </a:t>
            </a:r>
            <a:endParaRPr lang="en-US" sz="1350" dirty="0"/>
          </a:p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Tagging avancé par chemin et tags spéciaux</a:t>
            </a:r>
            <a:endParaRPr lang="en-US" sz="1350" dirty="0"/>
          </a:p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Décorateurs d'étapes pour les méthodes de classe</a:t>
            </a:r>
            <a:endParaRPr lang="en-US" sz="1350" dirty="0"/>
          </a:p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Définitions d'étapes scoped</a:t>
            </a:r>
            <a:endParaRPr lang="en-US" sz="1350" dirty="0"/>
          </a:p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Exportation des étapes pour l'IA</a:t>
            </a:r>
            <a:endParaRPr lang="en-US" sz="1350" dirty="0"/>
          </a:p>
          <a:p>
            <a:pPr algn="l" marL="190500" indent="-190500">
              <a:lnSpc>
                <a:spcPts val="2025"/>
              </a:lnSpc>
              <a:buSzPct val="100000"/>
              <a:buChar char="•"/>
            </a:pPr>
            <a:r>
              <a:rPr lang="en-US" sz="1350" b="0" spc="14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Fonctions d'étapes réutilisables</a:t>
            </a:r>
            <a:endParaRPr lang="en-US" sz="1350" dirty="0"/>
          </a:p>
        </p:txBody>
      </p:sp>
      <p:pic>
        <p:nvPicPr>
          <p:cNvPr id="9" name="Image 2" descr="https://pitch-assets-ccb95893-de3f-4266-973c-20049231b248.s3.eu-west-1.amazonaws.com/497a95a6-604e-4e7c-bf0a-76e6fd135b57?pitch-bytes=76787&amp;pitch-content-type=image%2Fpng">    </p:cNvPr>
          <p:cNvPicPr>
            <a:picLocks noChangeAspect="1"/>
          </p:cNvPicPr>
          <p:nvPr/>
        </p:nvPicPr>
        <p:blipFill>
          <a:blip r:embed="rId5"/>
          <a:srcRect l="0" r="0" t="2430" b="187"/>
          <a:stretch/>
        </p:blipFill>
        <p:spPr>
          <a:xfrm>
            <a:off x="5065960" y="666750"/>
            <a:ext cx="3795712" cy="4000500"/>
          </a:xfrm>
          <a:prstGeom prst="roundRect">
            <a:avLst>
              <a:gd name="adj" fmla="val 5000"/>
            </a:avLst>
          </a:prstGeom>
        </p:spPr>
      </p:pic>
      <p:pic>
        <p:nvPicPr>
          <p:cNvPr id="10" name="Image 3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r="11938" t="10346" b="23080"/>
          <a:stretch/>
        </p:blipFill>
        <p:spPr>
          <a:xfrm flipH="1" rot="9900000">
            <a:off x="5733230" y="-897437"/>
            <a:ext cx="2412721" cy="2066818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277b9336-0086-45ee-ba0d-313152dc1644?pitch-bytes=1096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 flipH="1" flipV="1">
            <a:off x="-1174357" y="3405542"/>
            <a:ext cx="2990933" cy="299093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5035" y="666750"/>
            <a:ext cx="8193319" cy="34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Fonctionnement de Playwright BDD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12226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5259962" y="190500"/>
            <a:ext cx="3598288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Shape 3"/>
          <p:cNvSpPr/>
          <p:nvPr/>
        </p:nvSpPr>
        <p:spPr>
          <a:xfrm>
            <a:off x="476250" y="1999012"/>
            <a:ext cx="2476500" cy="2667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</p:spPr>
      </p:sp>
      <p:sp>
        <p:nvSpPr>
          <p:cNvPr id="9" name="Text 4"/>
          <p:cNvSpPr/>
          <p:nvPr/>
        </p:nvSpPr>
        <p:spPr>
          <a:xfrm>
            <a:off x="666750" y="3831025"/>
            <a:ext cx="2095500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Rédigez votre step.(js/ts) et votre fichier feature (Gherkin)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66750" y="3553048"/>
            <a:ext cx="2095500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Rédiger vos tests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338101" y="1999012"/>
            <a:ext cx="2476500" cy="2667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6190631" y="1999012"/>
            <a:ext cx="2476500" cy="2667000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</p:spPr>
        <p:txBody>
          <a:bodyPr wrap="square" lIns="137583" tIns="314854" rIns="137583" bIns="314854" rtlCol="0" anchor="ctr"/>
          <a:lstStyle/>
          <a:p>
            <a:pPr algn="ctr">
              <a:lnSpc>
                <a:spcPts val="1680"/>
              </a:lnSpc>
            </a:pP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521448" y="3828595"/>
            <a:ext cx="209541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Génération des fichiers playwright test.xxx('…') par la commande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npx bddgen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521448" y="3553048"/>
            <a:ext cx="2095418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Playwright-bdd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78038" y="3831025"/>
            <a:ext cx="2095500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Lancement de playwright avec </a:t>
            </a:r>
            <a:endParaRPr lang="en-US" sz="1050" dirty="0"/>
          </a:p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tests générer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78038" y="3553048"/>
            <a:ext cx="2095500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spc="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Playwright Runner</a:t>
            </a:r>
            <a:endParaRPr lang="en-US" sz="1200" dirty="0"/>
          </a:p>
        </p:txBody>
      </p:sp>
      <p:pic>
        <p:nvPicPr>
          <p:cNvPr id="17" name="Image 2" descr="https://media4.giphy.com/media/v1.Y2lkPWI0ZWIxZGIzdGdrdm1lN2lsbDU5dW15eTFub2c0cnV5MzNnbTR0bzY4cnp6YjZndyZlcD12MV9naWZzX3NlYXJjaCZjdD1n/Sm9AfJRiZofjlrkAAl/giphy.gif">    </p:cNvPr>
          <p:cNvPicPr>
            <a:picLocks noChangeAspect="1"/>
          </p:cNvPicPr>
          <p:nvPr/>
        </p:nvPicPr>
        <p:blipFill>
          <a:blip r:embed="rId5"/>
          <a:srcRect l="14333" r="14333" t="0" b="0"/>
          <a:stretch/>
        </p:blipFill>
        <p:spPr>
          <a:xfrm>
            <a:off x="665006" y="1289254"/>
            <a:ext cx="2097244" cy="2205038"/>
          </a:xfrm>
          <a:prstGeom prst="roundRect">
            <a:avLst>
              <a:gd name="adj" fmla="val 8500"/>
            </a:avLst>
          </a:prstGeom>
        </p:spPr>
      </p:pic>
      <p:pic>
        <p:nvPicPr>
          <p:cNvPr id="18" name="Image 3" descr="https://media4.giphy.com/media/v1.Y2lkPWI0ZWIxZGIzd3gxaXlwbml0Z2w0bG83YWJndDlhNXA2YXcyOGlqeWUyaG12c2F5YiZlcD12MV9naWZzX3NlYXJjaCZjdD1n/wr7oA0rSjnWuiLJOY5/giphy.gif">    </p:cNvPr>
          <p:cNvPicPr>
            <a:picLocks noChangeAspect="1"/>
          </p:cNvPicPr>
          <p:nvPr/>
        </p:nvPicPr>
        <p:blipFill>
          <a:blip r:embed="rId6"/>
          <a:srcRect l="2444" r="2444" t="0" b="0"/>
          <a:stretch/>
        </p:blipFill>
        <p:spPr>
          <a:xfrm>
            <a:off x="3517536" y="1289254"/>
            <a:ext cx="2097244" cy="2205038"/>
          </a:xfrm>
          <a:prstGeom prst="roundRect">
            <a:avLst>
              <a:gd name="adj" fmla="val 8500"/>
            </a:avLst>
          </a:prstGeom>
        </p:spPr>
      </p:pic>
      <p:pic>
        <p:nvPicPr>
          <p:cNvPr id="19" name="Image 4" descr="https://media0.giphy.com/media/v1.Y2lkPWI0ZWIxZGIzYnUyODJjbHR5bGV0eHVraWdmY3N0ZzRmNDJyb285Ym04c3V2YXI0dSZlcD12MV9naWZzX3NlYXJjaCZjdD1n/hLl5qwzxaui5CJwhoI/giphy.gif">    </p:cNvPr>
          <p:cNvPicPr>
            <a:picLocks noChangeAspect="1"/>
          </p:cNvPicPr>
          <p:nvPr/>
        </p:nvPicPr>
        <p:blipFill>
          <a:blip r:embed="rId7"/>
          <a:srcRect l="0" r="0" t="20429" b="20429"/>
          <a:stretch/>
        </p:blipFill>
        <p:spPr>
          <a:xfrm>
            <a:off x="6379387" y="1289254"/>
            <a:ext cx="2097244" cy="2205038"/>
          </a:xfrm>
          <a:prstGeom prst="roundRect">
            <a:avLst>
              <a:gd name="adj" fmla="val 8500"/>
            </a:avLst>
          </a:prstGeom>
        </p:spPr>
      </p:pic>
      <p:sp>
        <p:nvSpPr>
          <p:cNvPr id="20" name="Shape 12"/>
          <p:cNvSpPr/>
          <p:nvPr/>
        </p:nvSpPr>
        <p:spPr>
          <a:xfrm>
            <a:off x="2952371" y="2697144"/>
            <a:ext cx="386109" cy="0"/>
          </a:xfrm>
          <a:prstGeom prst="line">
            <a:avLst/>
          </a:prstGeom>
          <a:solidFill>
            <a:srgbClr val="6769FF"/>
          </a:solidFill>
          <a:ln w="21167">
            <a:solidFill>
              <a:srgbClr val="6A6A6A"/>
            </a:solidFill>
            <a:prstDash val="solid"/>
            <a:headEnd type="none"/>
            <a:tailEnd type="triangle"/>
          </a:ln>
        </p:spPr>
      </p:sp>
      <p:sp>
        <p:nvSpPr>
          <p:cNvPr id="21" name="Shape 13"/>
          <p:cNvSpPr/>
          <p:nvPr/>
        </p:nvSpPr>
        <p:spPr>
          <a:xfrm>
            <a:off x="5812381" y="2695880"/>
            <a:ext cx="386109" cy="0"/>
          </a:xfrm>
          <a:prstGeom prst="line">
            <a:avLst/>
          </a:prstGeom>
          <a:solidFill>
            <a:srgbClr val="6769FF"/>
          </a:solidFill>
          <a:ln w="21167">
            <a:solidFill>
              <a:srgbClr val="6A6A6A"/>
            </a:solidFill>
            <a:prstDash val="solid"/>
            <a:headEnd type="none"/>
            <a:tailEnd type="triangle"/>
          </a:ln>
        </p:spPr>
      </p:sp>
      <p:pic>
        <p:nvPicPr>
          <p:cNvPr id="22" name="Image 5" descr="https://pitch-assets-ccb95893-de3f-4266-973c-20049231b248.s3.eu-west-1.amazonaws.com/try-pitch-pdf-export-logo.svg">
            <a:hlinkClick r:id="rId10" tooltip=""/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-650401" y="2857500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6899393" y="-1187563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5035" y="666750"/>
            <a:ext cx="8193236" cy="34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Fonctionnement de Playwright BDD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446707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191790" y="190500"/>
            <a:ext cx="2666460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474280" y="1195371"/>
            <a:ext cx="352425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Transformez vos tests avec Gherkin et Playwright</a:t>
            </a:r>
            <a:endParaRPr lang="en-US" sz="1050" dirty="0"/>
          </a:p>
        </p:txBody>
      </p:sp>
      <p:pic>
        <p:nvPicPr>
          <p:cNvPr id="9" name="Image 2" descr="https://pitch-assets-ccb95893-de3f-4266-973c-20049231b248.s3.eu-west-1.amazonaws.com/0270aa04-1005-4070-b1a5-15d39754df45?pitch-bytes=111668&amp;pitch-content-type=image%2Fpng">    </p:cNvPr>
          <p:cNvPicPr>
            <a:picLocks noChangeAspect="1"/>
          </p:cNvPicPr>
          <p:nvPr/>
        </p:nvPicPr>
        <p:blipFill>
          <a:blip r:embed="rId5"/>
          <a:srcRect l="1182" r="3824" t="0" b="0"/>
          <a:stretch/>
        </p:blipFill>
        <p:spPr>
          <a:xfrm>
            <a:off x="1347685" y="1767447"/>
            <a:ext cx="6452872" cy="2626239"/>
          </a:xfrm>
          <a:prstGeom prst="roundRect">
            <a:avLst>
              <a:gd name="adj" fmla="val 5000"/>
            </a:avLst>
          </a:prstGeom>
        </p:spPr>
      </p:pic>
      <p:pic>
        <p:nvPicPr>
          <p:cNvPr id="10" name="Image 3" descr="https://pitch-assets-ccb95893-de3f-4266-973c-20049231b248.s3.eu-west-1.amazonaws.com/1917b9ec-2ceb-423e-abe8-d3041d244468?pitch-bytes=191893&amp;pitch-content-type=image%2F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56279" y="1631519"/>
            <a:ext cx="5135960" cy="2897748"/>
          </a:xfrm>
          <a:prstGeom prst="roundRect">
            <a:avLst>
              <a:gd name="adj" fmla="val 5000"/>
            </a:avLst>
          </a:prstGeom>
        </p:spPr>
      </p:pic>
      <p:pic>
        <p:nvPicPr>
          <p:cNvPr id="11" name="Image 4" descr="https://pitch-assets-ccb95893-de3f-4266-973c-20049231b248.s3.eu-west-1.amazonaws.com/111cb6b4-ead3-4734-a487-2258dd65f92f?pitch-bytes=210708&amp;pitch-content-type=image%2F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855576" y="1008171"/>
            <a:ext cx="5135960" cy="3947846"/>
          </a:xfrm>
          <a:prstGeom prst="roundRect">
            <a:avLst>
              <a:gd name="adj" fmla="val 5000"/>
            </a:avLst>
          </a:prstGeom>
        </p:spPr>
      </p:pic>
      <p:pic>
        <p:nvPicPr>
          <p:cNvPr id="12" name="Image 5" descr="https://pitch-assets-ccb95893-de3f-4266-973c-20049231b248.s3.eu-west-1.amazonaws.com/try-pitch-pdf-export-logo.svg">
            <a:hlinkClick r:id="rId10" tooltip=""/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551447" y="-944889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-509748" y="3970055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5035" y="666750"/>
            <a:ext cx="8193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Configuration 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487341" cy="166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136179" y="190500"/>
            <a:ext cx="2704830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474280" y="1195371"/>
            <a:ext cx="352425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Simple configuration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TestDir gerer par Playwright-bdd</a:t>
            </a:r>
            <a:endParaRPr lang="en-US" sz="1050" dirty="0"/>
          </a:p>
        </p:txBody>
      </p:sp>
      <p:pic>
        <p:nvPicPr>
          <p:cNvPr id="9" name="Image 2" descr="https://pitch-assets-ccb95893-de3f-4266-973c-20049231b248.s3.eu-west-1.amazonaws.com/9e3330e6-86a4-41f4-8d4b-bd475ad93d81?pitch-bytes=135690&amp;pitch-content-type=image%2Fpng">    </p:cNvPr>
          <p:cNvPicPr>
            <a:picLocks noChangeAspect="1"/>
          </p:cNvPicPr>
          <p:nvPr/>
        </p:nvPicPr>
        <p:blipFill>
          <a:blip r:embed="rId5"/>
          <a:srcRect l="2136" r="5606" t="0" b="0"/>
          <a:stretch/>
        </p:blipFill>
        <p:spPr>
          <a:xfrm>
            <a:off x="3891897" y="1196720"/>
            <a:ext cx="4330165" cy="3328458"/>
          </a:xfrm>
          <a:prstGeom prst="roundRect">
            <a:avLst>
              <a:gd name="adj" fmla="val 5000"/>
            </a:avLst>
          </a:prstGeom>
        </p:spPr>
      </p:pic>
      <p:pic>
        <p:nvPicPr>
          <p:cNvPr id="10" name="Image 3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346" r="11938" t="10346" b="23080"/>
          <a:stretch/>
        </p:blipFill>
        <p:spPr>
          <a:xfrm flipH="1">
            <a:off x="-1405297" y="3293126"/>
            <a:ext cx="2976151" cy="254947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258512" y="-714375"/>
            <a:ext cx="2619375" cy="261937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378519" y="475488"/>
            <a:ext cx="4281487" cy="419052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6" name="Text 1"/>
          <p:cNvSpPr/>
          <p:nvPr/>
        </p:nvSpPr>
        <p:spPr>
          <a:xfrm>
            <a:off x="475035" y="666750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Coverage</a:t>
            </a:r>
            <a:endParaRPr lang="en-US" sz="2250" dirty="0"/>
          </a:p>
          <a:p>
            <a:pPr algn="l">
              <a:lnSpc>
                <a:spcPts val="2700"/>
              </a:lnSpc>
            </a:pP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308275" y="190500"/>
            <a:ext cx="392921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6288392" y="190500"/>
            <a:ext cx="2569858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474280" y="1195371"/>
            <a:ext cx="35242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Monocart report coverage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Coverage des tests e2e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Possible de le merge avec Sonar en V8</a:t>
            </a:r>
            <a:endParaRPr lang="en-US" sz="1050" dirty="0"/>
          </a:p>
          <a:p>
            <a:pPr algn="l" marL="190500" indent="-190500">
              <a:lnSpc>
                <a:spcPts val="1680"/>
              </a:lnSpc>
              <a:buSzPct val="100000"/>
              <a:buChar char="•"/>
            </a:pPr>
            <a:r>
              <a:rPr lang="en-US" sz="1050" b="0" spc="-10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Report Html et CLI</a:t>
            </a:r>
            <a:endParaRPr lang="en-US" sz="1050" dirty="0"/>
          </a:p>
        </p:txBody>
      </p:sp>
      <p:pic>
        <p:nvPicPr>
          <p:cNvPr id="10" name="Image 2" descr="https://pitch-assets-ccb95893-de3f-4266-973c-20049231b248.s3.eu-west-1.amazonaws.com/760f4a83-24e5-41ae-b4c1-57b4a2fe537a?pitch-bytes=192901&amp;pitch-content-type=image%2Fgif&amp;pitch-gifm=tru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55111" y="1821193"/>
            <a:ext cx="3526439" cy="2612177"/>
          </a:xfrm>
          <a:prstGeom prst="rect">
            <a:avLst/>
          </a:prstGeom>
        </p:spPr>
      </p:pic>
      <p:pic>
        <p:nvPicPr>
          <p:cNvPr id="11" name="Image 3" descr="https://pitch-assets-ccb95893-de3f-4266-973c-20049231b248.s3.eu-west-1.amazonaws.com/67c78706-9afd-495c-9379-7b0202ef0dc5?pitch-bytes=29302&amp;pitch-content-type=image%2F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52294" y="596560"/>
            <a:ext cx="3657600" cy="1063732"/>
          </a:xfrm>
          <a:prstGeom prst="rect">
            <a:avLst/>
          </a:prstGeom>
        </p:spPr>
      </p:pic>
      <p:pic>
        <p:nvPicPr>
          <p:cNvPr id="12" name="Image 4" descr="https://pitch-assets-ccb95893-de3f-4266-973c-20049231b248.s3.eu-west-1.amazonaws.com/try-pitch-pdf-export-logo.svg">
            <a:hlinkClick r:id="rId9" tooltip=""/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-650401" y="2857500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415563" y="-1196166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5035" y="666750"/>
            <a:ext cx="8193402" cy="34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Next Steps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48734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153420" y="190500"/>
            <a:ext cx="2704830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474280" y="1012018"/>
            <a:ext cx="35242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920"/>
              </a:lnSpc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Let's play with Playwright bdd</a:t>
            </a:r>
            <a:endParaRPr lang="en-US" sz="1200" dirty="0"/>
          </a:p>
        </p:txBody>
      </p:sp>
      <p:pic>
        <p:nvPicPr>
          <p:cNvPr id="9" name="Image 2" descr="https://pitch-assets-ccb95893-de3f-4266-973c-20049231b248.s3.eu-west-1.amazonaws.com/062e6cb4-f4f2-4bef-b5f0-b2f6bc04b982?pitch-bytes=2479922&amp;pitch-content-type=image%2Fgif&amp;pitch-gifm=true">    </p:cNvPr>
          <p:cNvPicPr>
            <a:picLocks noChangeAspect="1"/>
          </p:cNvPicPr>
          <p:nvPr/>
        </p:nvPicPr>
        <p:blipFill>
          <a:blip r:embed="rId5"/>
          <a:srcRect l="0" r="0" t="2602" b="2602"/>
          <a:stretch/>
        </p:blipFill>
        <p:spPr>
          <a:xfrm>
            <a:off x="5726955" y="1729200"/>
            <a:ext cx="2941721" cy="2938812"/>
          </a:xfrm>
          <a:prstGeom prst="roundRect">
            <a:avLst>
              <a:gd name="adj" fmla="val 8500"/>
            </a:avLst>
          </a:prstGeom>
        </p:spPr>
      </p:pic>
      <p:sp>
        <p:nvSpPr>
          <p:cNvPr id="10" name="Text 4"/>
          <p:cNvSpPr/>
          <p:nvPr/>
        </p:nvSpPr>
        <p:spPr>
          <a:xfrm>
            <a:off x="477907" y="1371983"/>
            <a:ext cx="3662247" cy="146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90500" indent="-190500">
              <a:lnSpc>
                <a:spcPts val="1920"/>
              </a:lnSpc>
              <a:buSzPct val="100000"/>
              <a:buChar char="•"/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Configuration Playwright et Playwright bdd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buSzPct val="100000"/>
              <a:buChar char="•"/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Premier test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buSzPct val="100000"/>
              <a:buChar char="•"/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 Profil avec Setup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buSzPct val="100000"/>
              <a:buChar char="•"/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 Téléchargement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buSzPct val="100000"/>
              <a:buChar char="•"/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 de d'accessibilité 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buSzPct val="100000"/>
              <a:buChar char="•"/>
            </a:pPr>
            <a:r>
              <a:rPr lang="en-US" sz="1200" b="0" spc="-12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Ajout du coverage</a:t>
            </a:r>
            <a:endParaRPr lang="en-US" sz="1200" dirty="0"/>
          </a:p>
        </p:txBody>
      </p:sp>
      <p:pic>
        <p:nvPicPr>
          <p:cNvPr id="11" name="Image 3" descr="https://pitch-assets-ccb95893-de3f-4266-973c-20049231b248.s3.eu-west-1.amazonaws.com/try-pitch-pdf-export-logo.svg">
            <a:hlinkClick r:id="rId8" tooltip=""/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3535c0-9d85-49dc-a375-d4d817754da1?pitch-bytes=575&amp;pitch-content-type=image%2Fsvg%2Bxm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551447" y="-944889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-509748" y="3970055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5285" y="475758"/>
            <a:ext cx="81931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250" b="1" spc="-45" kern="0" dirty="0">
                <a:solidFill>
                  <a:srgbClr val="0E0E0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Play avec Playwright-bdd</a:t>
            </a:r>
            <a:endParaRPr lang="en-US" sz="2250" dirty="0"/>
          </a:p>
        </p:txBody>
      </p:sp>
      <p:sp>
        <p:nvSpPr>
          <p:cNvPr id="6" name="Text 1"/>
          <p:cNvSpPr/>
          <p:nvPr/>
        </p:nvSpPr>
        <p:spPr>
          <a:xfrm>
            <a:off x="308275" y="190500"/>
            <a:ext cx="3487291" cy="16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Heinrich Antoine</a:t>
            </a:r>
            <a:endParaRPr lang="en-US" sz="825" dirty="0"/>
          </a:p>
        </p:txBody>
      </p:sp>
      <p:sp>
        <p:nvSpPr>
          <p:cNvPr id="7" name="Text 2"/>
          <p:cNvSpPr/>
          <p:nvPr/>
        </p:nvSpPr>
        <p:spPr>
          <a:xfrm>
            <a:off x="6153420" y="190500"/>
            <a:ext cx="2704830" cy="1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320"/>
              </a:lnSpc>
            </a:pPr>
            <a:r>
              <a:rPr lang="en-US" sz="825" b="0" spc="-8" kern="0" dirty="0">
                <a:solidFill>
                  <a:srgbClr val="000000">
                    <a:alpha val="40000"/>
                  </a:srgbClr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Octobre 2026</a:t>
            </a:r>
            <a:endParaRPr lang="en-US" sz="825" dirty="0"/>
          </a:p>
        </p:txBody>
      </p:sp>
      <p:sp>
        <p:nvSpPr>
          <p:cNvPr id="8" name="Text 3"/>
          <p:cNvSpPr/>
          <p:nvPr/>
        </p:nvSpPr>
        <p:spPr>
          <a:xfrm>
            <a:off x="4080570" y="1695202"/>
            <a:ext cx="45871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r>
              <a:rPr lang="en-US" sz="3000" b="0" u="sng" spc="-30" kern="0" dirty="0">
                <a:solidFill>
                  <a:srgbClr val="6769FF"/>
                </a:solidFill>
                <a:latin typeface="Syne" pitchFamily="34" charset="0"/>
                <a:ea typeface="Syne" pitchFamily="34" charset="-122"/>
                <a:cs typeface="Syne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https://github.com/synnksou/dojo-playwright-bdd</a:t>
            </a:r>
            <a:endParaRPr lang="en-US" sz="3000" dirty="0"/>
          </a:p>
        </p:txBody>
      </p:sp>
      <p:pic>
        <p:nvPicPr>
          <p:cNvPr id="9" name="Image 2" descr="https://pitch-assets-ccb95893-de3f-4266-973c-20049231b248.s3.eu-west-1.amazonaws.com/6aeb203b-bdc9-40bf-821e-3cc92f92bfb3?pitch-bytes=153860&amp;pitch-content-type=image%2Fpng">    </p:cNvPr>
          <p:cNvPicPr>
            <a:picLocks noChangeAspect="1"/>
          </p:cNvPicPr>
          <p:nvPr/>
        </p:nvPicPr>
        <p:blipFill>
          <a:blip r:embed="rId6"/>
          <a:srcRect l="777" r="777" t="0" b="0"/>
          <a:stretch/>
        </p:blipFill>
        <p:spPr>
          <a:xfrm>
            <a:off x="216946" y="1035577"/>
            <a:ext cx="3662524" cy="2538779"/>
          </a:xfrm>
          <a:prstGeom prst="rect">
            <a:avLst/>
          </a:prstGeom>
        </p:spPr>
      </p:pic>
      <p:pic>
        <p:nvPicPr>
          <p:cNvPr id="10" name="Image 3" descr="https://pitch-assets-ccb95893-de3f-4266-973c-20049231b248.s3.eu-west-1.amazonaws.com/try-pitch-pdf-export-logo.svg">
            <a:hlinkClick r:id="rId9" tooltip=""/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77ace16-0c5d-4c12-bf3a-c8e5ee38c03e?pitch-bytes=1023888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2f9e2d8e-590b-4ba5-bf4d-045861e91daa?pitch-bytes=202963&amp;pitch-content-type=image%2F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4376" y="3373067"/>
            <a:ext cx="2856374" cy="457020"/>
          </a:xfrm>
          <a:prstGeom prst="rect">
            <a:avLst/>
          </a:prstGeom>
          <a:effectLst>
            <a:outerShdw sx="100000" sy="100000" kx="0" ky="0" algn="bl" rotWithShape="0" blurRad="152400" dist="50800" dir="378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✨Playwright: Gherkin for End-to-End Tests</dc:title>
  <dc:subject>PptxGenJS Presentation</dc:subject>
  <dc:creator>Pitch Software GmbH</dc:creator>
  <cp:lastModifiedBy>Pitch Software GmbH</cp:lastModifiedBy>
  <cp:revision>1</cp:revision>
  <dcterms:created xsi:type="dcterms:W3CDTF">2026-10-29T07:15:22Z</dcterms:created>
  <dcterms:modified xsi:type="dcterms:W3CDTF">2026-10-29T07:15:22Z</dcterms:modified>
</cp:coreProperties>
</file>